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108ef9a-6c1a-bfaa-0fab-d824afb5a178}">
          <p14:sldIdLst>
            <p14:sldId id="256"/>
          </p14:sldIdLst>
        </p14:section>
        <p14:section name="Problem and user" id="{e3e73498-9af1-f961-3c8c-5ee2d3f52765}">
          <p14:sldIdLst>
            <p14:sldId id="257"/>
            <p14:sldId id="258"/>
          </p14:sldIdLst>
        </p14:section>
        <p14:section name="Live demo" id="{50890cc3-3b4e-97fd-b40c-20254d42ce9c}">
          <p14:sldIdLst>
            <p14:sldId id="259"/>
          </p14:sldIdLst>
        </p14:section>
        <p14:section name="Technology" id="{4f7e34ba-6fe5-0c3a-12ad-dfe9435bc5bc}">
          <p14:sldIdLst>
            <p14:sldId id="260"/>
            <p14:sldId id="261"/>
            <p14:sldId id="262"/>
            <p14:sldId id="263"/>
          </p14:sldIdLst>
        </p14:section>
        <p14:section name="Budget and ROI" id="{31c2685e-2bab-d9c1-c355-12b46f86a6c7}">
          <p14:sldIdLst>
            <p14:sldId id="264"/>
          </p14:sldIdLst>
        </p14:section>
        <p14:section name="Next product" id="{c47f1ae3-a5c2-ecf2-5fdd-f3e18324a568}">
          <p14:sldIdLst>
            <p14:sldId id="265"/>
          </p14:sldIdLst>
        </p14:section>
        <p14:section name="Next steps" id="{7282d8b3-cfad-560e-aa60-b807814c92dc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1F2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1F23"/>
                </a:solidFill>
                <a:latin typeface="+mn-lt"/>
              </a:rPr>
              <a:t>Crash clips warned in time, % (at a false-warning budget per hour)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Trumen Guard</c:v>
                </c:pt>
              </c:strCache>
            </c:strRef>
          </c:tx>
          <c:spPr>
            <a:solidFill>
              <a:srgbClr val="1D5AA6"/>
            </a:solidFill>
            <a:ln w="31750" cap="flat">
              <a:solidFill>
                <a:srgbClr val="1D5A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5AA6"/>
              </a:solidFill>
              <a:ln w="9525" cap="flat">
                <a:solidFill>
                  <a:srgbClr val="1D5A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125</c:v>
                  </c:pt>
                  <c:pt idx="6">
                    <c:v>150</c:v>
                  </c:pt>
                  <c:pt idx="7">
                    <c:v>200</c:v>
                  </c:pt>
                  <c:pt idx="8">
                    <c:v>250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10</c:v>
                </c:pt>
                <c:pt idx="2">
                  <c:v>19</c:v>
                </c:pt>
                <c:pt idx="3">
                  <c:v>25</c:v>
                </c:pt>
                <c:pt idx="4">
                  <c:v>36</c:v>
                </c:pt>
                <c:pt idx="5">
                  <c:v>42</c:v>
                </c:pt>
                <c:pt idx="6">
                  <c:v>51</c:v>
                </c:pt>
                <c:pt idx="7">
                  <c:v>59</c:v>
                </c:pt>
                <c:pt idx="8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baseline</c:v>
                </c:pt>
              </c:strCache>
            </c:strRef>
          </c:tx>
          <c:spPr>
            <a:solidFill>
              <a:srgbClr val="9AA1A9"/>
            </a:solidFill>
            <a:ln w="31750" cap="flat">
              <a:solidFill>
                <a:srgbClr val="9AA1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1A9"/>
              </a:solidFill>
              <a:ln w="9525" cap="flat">
                <a:solidFill>
                  <a:srgbClr val="9AA1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125</c:v>
                  </c:pt>
                  <c:pt idx="6">
                    <c:v>150</c:v>
                  </c:pt>
                  <c:pt idx="7">
                    <c:v>200</c:v>
                  </c:pt>
                  <c:pt idx="8">
                    <c:v>250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</c:v>
                </c:pt>
                <c:pt idx="1">
                  <c:v>11</c:v>
                </c:pt>
                <c:pt idx="2">
                  <c:v>15</c:v>
                </c:pt>
                <c:pt idx="3">
                  <c:v>22</c:v>
                </c:pt>
                <c:pt idx="4">
                  <c:v>29</c:v>
                </c:pt>
                <c:pt idx="5">
                  <c:v>29</c:v>
                </c:pt>
                <c:pt idx="6">
                  <c:v>34</c:v>
                </c:pt>
                <c:pt idx="7">
                  <c:v>41</c:v>
                </c:pt>
                <c:pt idx="8">
                  <c:v>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3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 on the first slide, as the rules ask. Invite the jury to scan the QR code now; the demo comes in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minute. The problem is fatal crashes, and almost half of them involve pedestrians. The tool to warn exists in every pocket.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 product: the unit is Royal Motors after-sales; the process is the handover. No vehicle modification, no type approval: it only warns.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Play sample 1 (urban crash), then hand a phone to the jury or use their video. If the network fails, play the backup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minute. Three ideas carry the system; the learned model sits on top of them. Everything we did not write is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minute. Honest numbers from eval/report.py. On ranking we only tie the naive baseline; the gain is as a live warning, where tracking and time to contact give more crashes warned at the same false-alarm rate. The false-warning rate is still too high for production: that is what the pilot tunes on local roads.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ask for night, rain, speed, cost and failures. Small groups have wide intervals, and we show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replication test: data, pipeline, integration and domain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and a half minutes. Cost to build and run the pilot, unit economics and payback, every assumption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seconds, only if time allows. Built during the final as an add-on, live at /scan/ on the same site. Exterior only; plate and people are removed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a minute. A concrete ask, then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3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Trumen Guard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Trumen Guard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ning sign"/>
          <p:cNvSpPr/>
          <p:nvPr/>
        </p:nvSpPr>
        <p:spPr>
          <a:xfrm>
            <a:off x="548640" y="640080"/>
            <a:ext cx="822960" cy="731520"/>
          </a:xfrm>
          <a:prstGeom prst="triangle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8046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Trumen Guard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collision warning that runs on any phone, before the crash</a:t>
            </a:r>
            <a:endParaRPr lang="en-US" sz="2400" dirty="0"/>
          </a:p>
        </p:txBody>
      </p:sp>
      <p:sp>
        <p:nvSpPr>
          <p:cNvPr id="6" name="mode box"/>
          <p:cNvSpPr/>
          <p:nvPr/>
        </p:nvSpPr>
        <p:spPr>
          <a:xfrm>
            <a:off x="548640" y="356616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2E3238"/>
          </a:solidFill>
          <a:ln w="19050">
            <a:solidFill>
              <a:srgbClr val="F2C2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67588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Partner product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Toyota Royal Motors and BYD Royal Motors after-sales; changes the vehicle handover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Trumen: Asilbek Shodmonov, Komron Akmalov, Ashraf Shermatov</a:t>
            </a:r>
            <a:endParaRPr lang="en-US" sz="1500" dirty="0"/>
          </a:p>
        </p:txBody>
      </p:sp>
      <p:pic>
        <p:nvPicPr>
          <p:cNvPr id="9" name="QR to live si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600200"/>
            <a:ext cx="2651760" cy="2651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your phone now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trumen-com.github.io/road-vision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cars on our roads would not warn before a crash</a:t>
            </a:r>
            <a:endParaRPr lang="en-US" sz="3200" dirty="0"/>
          </a:p>
        </p:txBody>
      </p:sp>
      <p:sp>
        <p:nvSpPr>
          <p:cNvPr id="3" name="plate killed on Uzbekistan's roads in 2025"/>
          <p:cNvSpPr/>
          <p:nvPr/>
        </p:nvSpPr>
        <p:spPr>
          <a:xfrm>
            <a:off x="548640" y="150876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184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2,188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585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on Uzbekistan's roads in 2025</a:t>
            </a:r>
            <a:endParaRPr lang="en-US" sz="1300" dirty="0"/>
          </a:p>
        </p:txBody>
      </p:sp>
      <p:sp>
        <p:nvSpPr>
          <p:cNvPr id="6" name="plate of crashes hit a pedestrian"/>
          <p:cNvSpPr/>
          <p:nvPr/>
        </p:nvSpPr>
        <p:spPr>
          <a:xfrm>
            <a:off x="3337560" y="150876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184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585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crashes hit a pedestrian</a:t>
            </a:r>
            <a:endParaRPr lang="en-US" sz="1300" dirty="0"/>
          </a:p>
        </p:txBody>
      </p:sp>
      <p:sp>
        <p:nvSpPr>
          <p:cNvPr id="9" name="plate yearly cost, about 3% of GDP"/>
          <p:cNvSpPr/>
          <p:nvPr/>
        </p:nvSpPr>
        <p:spPr>
          <a:xfrm>
            <a:off x="6126480" y="150876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23262B"/>
          </a:solidFill>
          <a:ln w="1270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184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$2 bn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585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cost, about 3% of GDP</a:t>
            </a:r>
            <a:endParaRPr lang="en-US" sz="1300" dirty="0"/>
          </a:p>
        </p:txBody>
      </p:sp>
      <p:sp>
        <p:nvSpPr>
          <p:cNvPr id="12" name="plate rear-end crashes with a warning"/>
          <p:cNvSpPr/>
          <p:nvPr/>
        </p:nvSpPr>
        <p:spPr>
          <a:xfrm>
            <a:off x="8915400" y="15087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23262B"/>
          </a:solidFill>
          <a:ln w="1270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98280" y="16184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−27%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258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rear-end crashes with a warning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1752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5.5 million registered vehicles have no forward collision warning: it comes only with new, higher trims, and aftermarket units cost hundreds of dollars installed.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driver already carries a camera and a processor that can do it: their phone.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into pedestrians and cyclists are more than half of all crashes here. A warning must cover people, not only cars.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Gazeta.uz (Jan 2026; Nov 2025), Asian Transport Observatory road safety profile 2025, IIHS (forward collision warning alone, rear-end crashes).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Motors after-sales owns it; the handover changes</a:t>
            </a:r>
            <a:endParaRPr lang="en-US" sz="3200" dirty="0"/>
          </a:p>
        </p:txBody>
      </p:sp>
      <p:sp>
        <p:nvSpPr>
          <p:cNvPr id="3" name="card Driver"/>
          <p:cNvSpPr/>
          <p:nvPr/>
        </p:nvSpPr>
        <p:spPr>
          <a:xfrm>
            <a:off x="548640" y="14630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1F2F0"/>
          </a:solidFill>
          <a:ln w="12700">
            <a:solidFill>
              <a:srgbClr val="F1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the phone, opens one web page. Hears a warning about the car ahead or a person stepping out. Gets a trip report. Pays nothing for the basic warning.</a:t>
            </a:r>
            <a:endParaRPr lang="en-US" sz="1500" dirty="0"/>
          </a:p>
        </p:txBody>
      </p:sp>
      <p:sp>
        <p:nvSpPr>
          <p:cNvPr id="6" name="card Royal Motors after-sales"/>
          <p:cNvSpPr/>
          <p:nvPr/>
        </p:nvSpPr>
        <p:spPr>
          <a:xfrm>
            <a:off x="4297680" y="14630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1F2F0"/>
          </a:solidFill>
          <a:ln w="12700">
            <a:solidFill>
              <a:srgbClr val="F1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Motors after-sales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and sells the Safety Pack (mount, set-up, a year of trip reports) at handover and at service visits. Keeps the customer connected between visits.</a:t>
            </a:r>
            <a:endParaRPr lang="en-US" sz="1500" dirty="0"/>
          </a:p>
        </p:txBody>
      </p:sp>
      <p:sp>
        <p:nvSpPr>
          <p:cNvPr id="9" name="card Fleet customers"/>
          <p:cNvSpPr/>
          <p:nvPr/>
        </p:nvSpPr>
        <p:spPr>
          <a:xfrm>
            <a:off x="8046720" y="14630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1F2F0"/>
          </a:solidFill>
          <a:ln w="12700">
            <a:solidFill>
              <a:srgbClr val="F1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customers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and corporate fleets buying Toyota and BYD in bulk pay per vehicle per month for warnings and near misses per driver, for coaching.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it changes: vehicle handover</a:t>
            </a:r>
            <a:endParaRPr lang="en-US" sz="2000" dirty="0"/>
          </a:p>
        </p:txBody>
      </p:sp>
      <p:sp>
        <p:nvSpPr>
          <p:cNvPr id="13" name="step 1"/>
          <p:cNvSpPr/>
          <p:nvPr/>
        </p:nvSpPr>
        <p:spPr>
          <a:xfrm>
            <a:off x="548640" y="4663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326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709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or service done</a:t>
            </a:r>
            <a:endParaRPr lang="en-US" sz="1500" dirty="0"/>
          </a:p>
        </p:txBody>
      </p:sp>
      <p:sp>
        <p:nvSpPr>
          <p:cNvPr id="15" name="arrow 1"/>
          <p:cNvSpPr/>
          <p:nvPr/>
        </p:nvSpPr>
        <p:spPr>
          <a:xfrm>
            <a:off x="3090672" y="5047488"/>
            <a:ext cx="274320" cy="0"/>
          </a:xfrm>
          <a:prstGeom prst="line">
            <a:avLst/>
          </a:prstGeom>
          <a:noFill/>
          <a:ln w="19050">
            <a:solidFill>
              <a:srgbClr val="23262B"/>
            </a:solidFill>
            <a:prstDash val="solid"/>
            <a:tailEnd type="triangle"/>
          </a:ln>
        </p:spPr>
      </p:sp>
      <p:sp>
        <p:nvSpPr>
          <p:cNvPr id="16" name="step 2"/>
          <p:cNvSpPr/>
          <p:nvPr/>
        </p:nvSpPr>
        <p:spPr>
          <a:xfrm>
            <a:off x="3383280" y="4663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326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4709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Pack offered</a:t>
            </a:r>
            <a:endParaRPr lang="en-US" sz="1500" dirty="0"/>
          </a:p>
        </p:txBody>
      </p:sp>
      <p:sp>
        <p:nvSpPr>
          <p:cNvPr id="18" name="arrow 2"/>
          <p:cNvSpPr/>
          <p:nvPr/>
        </p:nvSpPr>
        <p:spPr>
          <a:xfrm>
            <a:off x="5925312" y="5047488"/>
            <a:ext cx="274320" cy="0"/>
          </a:xfrm>
          <a:prstGeom prst="line">
            <a:avLst/>
          </a:prstGeom>
          <a:noFill/>
          <a:ln w="19050">
            <a:solidFill>
              <a:srgbClr val="23262B"/>
            </a:solidFill>
            <a:prstDash val="solid"/>
            <a:tailEnd type="triangle"/>
          </a:ln>
        </p:spPr>
      </p:sp>
      <p:sp>
        <p:nvSpPr>
          <p:cNvPr id="19" name="step 3"/>
          <p:cNvSpPr/>
          <p:nvPr/>
        </p:nvSpPr>
        <p:spPr>
          <a:xfrm>
            <a:off x="6217920" y="4663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326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709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mounted, lane set in 30 s</a:t>
            </a:r>
            <a:endParaRPr lang="en-US" sz="1500" dirty="0"/>
          </a:p>
        </p:txBody>
      </p:sp>
      <p:sp>
        <p:nvSpPr>
          <p:cNvPr id="21" name="arrow 3"/>
          <p:cNvSpPr/>
          <p:nvPr/>
        </p:nvSpPr>
        <p:spPr>
          <a:xfrm>
            <a:off x="8759952" y="5047488"/>
            <a:ext cx="274320" cy="0"/>
          </a:xfrm>
          <a:prstGeom prst="line">
            <a:avLst/>
          </a:prstGeom>
          <a:noFill/>
          <a:ln w="19050">
            <a:solidFill>
              <a:srgbClr val="23262B"/>
            </a:solidFill>
            <a:prstDash val="solid"/>
            <a:tailEnd type="triangle"/>
          </a:ln>
        </p:spPr>
      </p:sp>
      <p:sp>
        <p:nvSpPr>
          <p:cNvPr id="22" name="step 4"/>
          <p:cNvSpPr/>
          <p:nvPr/>
        </p:nvSpPr>
        <p:spPr>
          <a:xfrm>
            <a:off x="9052560" y="4663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2C230"/>
          </a:solidFill>
          <a:ln w="15875">
            <a:solidFill>
              <a:srgbClr val="2326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89720" y="4709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leaves with a warning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589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dashcam crash clip: the band turns yellow, then red, with a beep, before impact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video: open any dashcam file; it is analysed in real time in the browser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camera: point a phone at the road or a street scene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 report: every warning with what, where and time to contact; nothing leaves the phone</a:t>
            </a:r>
            <a:endParaRPr lang="en-US" sz="2000" dirty="0"/>
          </a:p>
        </p:txBody>
      </p:sp>
      <p:pic>
        <p:nvPicPr>
          <p:cNvPr id="4" name="QR to live si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463040"/>
            <a:ext cx="2651760" cy="2651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trumen-com.github.io/road-vision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a recorded run of the demo is in the repository (demo/backup.mp4).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of looming plus a model learned on real crashes</a:t>
            </a:r>
            <a:endParaRPr lang="en-US" sz="3200" dirty="0"/>
          </a:p>
        </p:txBody>
      </p:sp>
      <p:sp>
        <p:nvSpPr>
          <p:cNvPr id="3" name="pipeline Camera"/>
          <p:cNvSpPr/>
          <p:nvPr/>
        </p:nvSpPr>
        <p:spPr>
          <a:xfrm>
            <a:off x="548640" y="14630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D5A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15361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10–30 fps</a:t>
            </a:r>
            <a:endParaRPr lang="en-US" sz="1100" dirty="0"/>
          </a:p>
        </p:txBody>
      </p:sp>
      <p:sp>
        <p:nvSpPr>
          <p:cNvPr id="6" name="pipe arrow 0"/>
          <p:cNvSpPr/>
          <p:nvPr/>
        </p:nvSpPr>
        <p:spPr>
          <a:xfrm>
            <a:off x="2020824" y="1984248"/>
            <a:ext cx="146304" cy="0"/>
          </a:xfrm>
          <a:prstGeom prst="line">
            <a:avLst/>
          </a:prstGeom>
          <a:noFill/>
          <a:ln w="15875">
            <a:solidFill>
              <a:srgbClr val="4A5058"/>
            </a:solidFill>
            <a:prstDash val="solid"/>
            <a:tailEnd type="triangle"/>
          </a:ln>
        </p:spPr>
      </p:sp>
      <p:sp>
        <p:nvSpPr>
          <p:cNvPr id="7" name="pipeline Detector"/>
          <p:cNvSpPr/>
          <p:nvPr/>
        </p:nvSpPr>
        <p:spPr>
          <a:xfrm>
            <a:off x="2176272" y="14630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D5A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1136" y="15361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31136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512×288</a:t>
            </a:r>
            <a:endParaRPr lang="en-US" sz="1100" dirty="0"/>
          </a:p>
        </p:txBody>
      </p:sp>
      <p:sp>
        <p:nvSpPr>
          <p:cNvPr id="10" name="pipe arrow 1"/>
          <p:cNvSpPr/>
          <p:nvPr/>
        </p:nvSpPr>
        <p:spPr>
          <a:xfrm>
            <a:off x="3648456" y="1984248"/>
            <a:ext cx="146304" cy="0"/>
          </a:xfrm>
          <a:prstGeom prst="line">
            <a:avLst/>
          </a:prstGeom>
          <a:noFill/>
          <a:ln w="15875">
            <a:solidFill>
              <a:srgbClr val="4A5058"/>
            </a:solidFill>
            <a:prstDash val="solid"/>
            <a:tailEnd type="triangle"/>
          </a:ln>
        </p:spPr>
      </p:sp>
      <p:sp>
        <p:nvSpPr>
          <p:cNvPr id="11" name="pipeline Tracker"/>
          <p:cNvSpPr/>
          <p:nvPr/>
        </p:nvSpPr>
        <p:spPr>
          <a:xfrm>
            <a:off x="3803904" y="14630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D5A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15361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58768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+ motion</a:t>
            </a:r>
            <a:endParaRPr lang="en-US" sz="1100" dirty="0"/>
          </a:p>
        </p:txBody>
      </p:sp>
      <p:sp>
        <p:nvSpPr>
          <p:cNvPr id="14" name="pipe arrow 2"/>
          <p:cNvSpPr/>
          <p:nvPr/>
        </p:nvSpPr>
        <p:spPr>
          <a:xfrm>
            <a:off x="5276088" y="1984248"/>
            <a:ext cx="146304" cy="0"/>
          </a:xfrm>
          <a:prstGeom prst="line">
            <a:avLst/>
          </a:prstGeom>
          <a:noFill/>
          <a:ln w="15875">
            <a:solidFill>
              <a:srgbClr val="4A5058"/>
            </a:solidFill>
            <a:prstDash val="solid"/>
            <a:tailEnd type="triangle"/>
          </a:ln>
        </p:spPr>
      </p:sp>
      <p:sp>
        <p:nvSpPr>
          <p:cNvPr id="15" name="pipeline Time to contact"/>
          <p:cNvSpPr/>
          <p:nvPr/>
        </p:nvSpPr>
        <p:spPr>
          <a:xfrm>
            <a:off x="5431536" y="14630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D5A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15361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contact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looming, tau-dot</a:t>
            </a:r>
            <a:endParaRPr lang="en-US" sz="1100" dirty="0"/>
          </a:p>
        </p:txBody>
      </p:sp>
      <p:sp>
        <p:nvSpPr>
          <p:cNvPr id="18" name="pipe arrow 3"/>
          <p:cNvSpPr/>
          <p:nvPr/>
        </p:nvSpPr>
        <p:spPr>
          <a:xfrm>
            <a:off x="6903720" y="1984248"/>
            <a:ext cx="146304" cy="0"/>
          </a:xfrm>
          <a:prstGeom prst="line">
            <a:avLst/>
          </a:prstGeom>
          <a:noFill/>
          <a:ln w="15875">
            <a:solidFill>
              <a:srgbClr val="4A5058"/>
            </a:solidFill>
            <a:prstDash val="solid"/>
            <a:tailEnd type="triangle"/>
          </a:ln>
        </p:spPr>
      </p:sp>
      <p:sp>
        <p:nvSpPr>
          <p:cNvPr id="19" name="pipeline Path in metres"/>
          <p:cNvSpPr/>
          <p:nvPr/>
        </p:nvSpPr>
        <p:spPr>
          <a:xfrm>
            <a:off x="7059168" y="14630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D5A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14032" y="15361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in metres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width-scaled offset</a:t>
            </a:r>
            <a:endParaRPr lang="en-US" sz="1100" dirty="0"/>
          </a:p>
        </p:txBody>
      </p:sp>
      <p:sp>
        <p:nvSpPr>
          <p:cNvPr id="22" name="pipe arrow 4"/>
          <p:cNvSpPr/>
          <p:nvPr/>
        </p:nvSpPr>
        <p:spPr>
          <a:xfrm>
            <a:off x="8531352" y="1984248"/>
            <a:ext cx="146304" cy="0"/>
          </a:xfrm>
          <a:prstGeom prst="line">
            <a:avLst/>
          </a:prstGeom>
          <a:noFill/>
          <a:ln w="15875">
            <a:solidFill>
              <a:srgbClr val="4A5058"/>
            </a:solidFill>
            <a:prstDash val="solid"/>
            <a:tailEnd type="triangle"/>
          </a:ln>
        </p:spPr>
      </p:sp>
      <p:sp>
        <p:nvSpPr>
          <p:cNvPr id="23" name="pipeline Risk model"/>
          <p:cNvSpPr/>
          <p:nvPr/>
        </p:nvSpPr>
        <p:spPr>
          <a:xfrm>
            <a:off x="8686800" y="14630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D5A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41664" y="15361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model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741664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on 2 s of features</a:t>
            </a:r>
            <a:endParaRPr lang="en-US" sz="1100" dirty="0"/>
          </a:p>
        </p:txBody>
      </p:sp>
      <p:sp>
        <p:nvSpPr>
          <p:cNvPr id="26" name="pipe arrow 5"/>
          <p:cNvSpPr/>
          <p:nvPr/>
        </p:nvSpPr>
        <p:spPr>
          <a:xfrm>
            <a:off x="10158984" y="1984248"/>
            <a:ext cx="146304" cy="0"/>
          </a:xfrm>
          <a:prstGeom prst="line">
            <a:avLst/>
          </a:prstGeom>
          <a:noFill/>
          <a:ln w="15875">
            <a:solidFill>
              <a:srgbClr val="4A5058"/>
            </a:solidFill>
            <a:prstDash val="solid"/>
            <a:tailEnd type="triangle"/>
          </a:ln>
        </p:spPr>
      </p:sp>
      <p:sp>
        <p:nvSpPr>
          <p:cNvPr id="27" name="pipeline Warning"/>
          <p:cNvSpPr/>
          <p:nvPr/>
        </p:nvSpPr>
        <p:spPr>
          <a:xfrm>
            <a:off x="10314432" y="14630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2C230"/>
          </a:solidFill>
          <a:ln w="19050">
            <a:solidFill>
              <a:srgbClr val="1D5A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69296" y="15361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369296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vibration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2651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inside the phone browser (onnxruntime-web). No video leaves the phone.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246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contact from one camera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7033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approaching car grows: d(ln h)/dt = 1/TTC. No distance or speed needed. Height, not width: a turning car gets wider, not taller.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3246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in my path, in metres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4297680" y="37033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÷ the object's own width does not change with distance, so a parked car stays beside us and a car in our lane stays at zero.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3246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Braking in control or a crash course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37033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Tau-dot (Lee, 1976): when time to contact stops shrinking, the driver is handling it. Turning is removed using the whole scene's sideways motion.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tracker, looming fit, metric path test, tau-dot, features, risk model, alert logic, evaluation harness, app. Not ours: YOLO11n weights (AGPL-3.0), onnxruntime (MIT).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667 held-out real dashcam clips</a:t>
            </a:r>
            <a:endParaRPr lang="en-US" sz="3200" dirty="0"/>
          </a:p>
        </p:txBody>
      </p:sp>
      <p:sp>
        <p:nvSpPr>
          <p:cNvPr id="3" name="plate mAP, Nexar protocol"/>
          <p:cNvSpPr/>
          <p:nvPr/>
        </p:nvSpPr>
        <p:spPr>
          <a:xfrm>
            <a:off x="548640" y="13716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23262B"/>
          </a:solidFill>
          <a:ln w="12700">
            <a:solidFill>
              <a:srgbClr val="2326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Nexar protocol</a:t>
            </a:r>
            <a:endParaRPr lang="en-US" sz="1300" dirty="0"/>
          </a:p>
        </p:txBody>
      </p:sp>
      <p:sp>
        <p:nvSpPr>
          <p:cNvPr id="6" name="plate of crash clips warned before the event"/>
          <p:cNvSpPr/>
          <p:nvPr/>
        </p:nvSpPr>
        <p:spPr>
          <a:xfrm>
            <a:off x="3383280" y="13716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4813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crash clips warned before the event</a:t>
            </a:r>
            <a:endParaRPr lang="en-US" sz="1300" dirty="0"/>
          </a:p>
        </p:txBody>
      </p:sp>
      <p:sp>
        <p:nvSpPr>
          <p:cNvPr id="9" name="plate false warnings per hour of normal driving"/>
          <p:cNvSpPr/>
          <p:nvPr/>
        </p:nvSpPr>
        <p:spPr>
          <a:xfrm>
            <a:off x="6217920" y="13716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813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warnings per hour of normal driving</a:t>
            </a:r>
            <a:endParaRPr lang="en-US" sz="1300" dirty="0"/>
          </a:p>
        </p:txBody>
      </p:sp>
      <p:sp>
        <p:nvSpPr>
          <p:cNvPr id="12" name="plate ROC AUC"/>
          <p:cNvSpPr/>
          <p:nvPr/>
        </p:nvSpPr>
        <p:spPr>
          <a:xfrm>
            <a:off x="9052560" y="137160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23262B"/>
          </a:solidFill>
          <a:ln w="1270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481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121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5577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Naive: biggest object in 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+ time to contact + path, hand-set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Trumen Guard (learned trees on 2 s of features)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Tried, not shipped: + visual model (lowered mAP)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0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0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radeoff chart" descr=""/>
          <p:cNvGraphicFramePr/>
          <p:nvPr/>
        </p:nvGraphicFramePr>
        <p:xfrm>
          <a:off x="6400800" y="2697480"/>
          <a:ext cx="52578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48640" y="45720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ties the naive baseline (mAP 0.69 vs 0.70). As a live warning, at the same false-warning rate, ours warns before more crashes: 19% vs 15% at 60 per hour, 51% vs 34% at 150.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was fixed on the training split before testing. mAP 95% interval 0.64–0.76; Kaggle winners reached about 0.9 with server video networks.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Night, rain, speed and cost, and where it fails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82296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interval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Daylight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0.63–0.75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Twilight or dark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0.61–0.91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or cloudy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0.66–0.77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0.44–0.82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0.64–0.79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0.70–0.87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Suburban, rural, other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0.51–0.75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and cost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8288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 the phone: WebGPU, or multi-threaded WebAssembly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46 ms per frame on 2 CPU threads; the live frame rate shows on screen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per car; static hosting under 1 cent per car per month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cars and plates: classes, not brands; plates are never read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failure cases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42062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from the side or behind: one forward camera cannot see them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Unlit pedestrians at night: the detector misses them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is our weakest group (32 clips, mAP 0.58): wipers and glare break the boxes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stop-and-go traffic: short time to contact is normal there; silenced below 8 km/h by GPS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another team cannot rebuild it in a weekend</a:t>
            </a:r>
            <a:endParaRPr lang="en-US" sz="3200" dirty="0"/>
          </a:p>
        </p:txBody>
      </p:sp>
      <p:sp>
        <p:nvSpPr>
          <p:cNvPr id="3" name="moat Measured pipeline"/>
          <p:cNvSpPr/>
          <p:nvPr/>
        </p:nvSpPr>
        <p:spPr>
          <a:xfrm>
            <a:off x="548640" y="14630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2F0"/>
          </a:solidFill>
          <a:ln w="12700">
            <a:solidFill>
              <a:srgbClr val="F1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pipeline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2140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and threshold was tuned against hundreds of real crash clips; the harness runs the exact browser code headless over the dataset.</a:t>
            </a:r>
            <a:endParaRPr lang="en-US" sz="1500" dirty="0"/>
          </a:p>
        </p:txBody>
      </p:sp>
      <p:sp>
        <p:nvSpPr>
          <p:cNvPr id="6" name="moat Physics, not only a model"/>
          <p:cNvSpPr/>
          <p:nvPr/>
        </p:nvSpPr>
        <p:spPr>
          <a:xfrm>
            <a:off x="6172200" y="14630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2F0"/>
          </a:solidFill>
          <a:ln w="12700">
            <a:solidFill>
              <a:srgbClr val="F1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Physics, not only a model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2140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Looming, tau-dot and the metric path test explain every warning: which object, where, and in how many seconds.</a:t>
            </a:r>
            <a:endParaRPr lang="en-US" sz="1500" dirty="0"/>
          </a:p>
        </p:txBody>
      </p:sp>
      <p:sp>
        <p:nvSpPr>
          <p:cNvPr id="9" name="moat On the device"/>
          <p:cNvSpPr/>
          <p:nvPr/>
        </p:nvSpPr>
        <p:spPr>
          <a:xfrm>
            <a:off x="548640" y="36118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2F0"/>
          </a:solidFill>
          <a:ln w="12700">
            <a:solidFill>
              <a:srgbClr val="F1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device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7024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in a phone browser with no server: privacy by design and near-zero cost per car.</a:t>
            </a:r>
            <a:endParaRPr lang="en-US" sz="1500" dirty="0"/>
          </a:p>
        </p:txBody>
      </p:sp>
      <p:sp>
        <p:nvSpPr>
          <p:cNvPr id="12" name="moat Distribution and data"/>
          <p:cNvSpPr/>
          <p:nvPr/>
        </p:nvSpPr>
        <p:spPr>
          <a:xfrm>
            <a:off x="6172200" y="36118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2F0"/>
          </a:solidFill>
          <a:ln w="12700">
            <a:solidFill>
              <a:srgbClr val="F1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and data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27024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Royal Motors after-sales, every handover adds a car; consented trip reports build a Tashkent near-miss dataset no outside team has.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$14,900 pilot that pays back in about four months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3949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Pilot, 3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engineers (local rates)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phones, 100 windscreen mounts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test data with consent, 300 clips labelled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Hosting, CDN, store fees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and privacy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17320"/>
          <a:ext cx="534924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year after roll-out (assumptions)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Pack: $39 price − $13 direct cost = $26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24,000 handovers and visits × 5% attach = 1,200 packs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Fleets: 300 vehicles × $3 per 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per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of the 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262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our estimate, to be confirmed with Royal Motors in the pilot. Not counted: fewer crash repairs and downtime for fleets (IIHS: −27% rear-end crashes with a warning; we assume half until local data proves more) and insurer discounts. Running cost per car is near zero because inference runs on the phone.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product: one walk-around, the car in 3D, part by part</a:t>
            </a:r>
            <a:endParaRPr lang="en-US" sz="3000" dirty="0"/>
          </a:p>
        </p:txBody>
      </p:sp>
      <p:pic>
        <p:nvPicPr>
          <p:cNvPr id="3" name="scan who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4136"/>
          </a:xfrm>
          <a:prstGeom prst="rect">
            <a:avLst/>
          </a:prstGeom>
        </p:spPr>
      </p:pic>
      <p:pic>
        <p:nvPicPr>
          <p:cNvPr id="4" name="scan apar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41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54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Royal Motors test-drive Camry at the venue: 29 s video + 9 photos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217920" y="4754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32 named exterior parts, each sized and searchable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663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of 95 views placed. Scale from the published length; then wheelbase +2 mm, width +16 mm, height +4 mm vs published. Exported as glTF + JSON.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after-sales: a 3D condition record at handover and trade-in, and parts lookup. Hidden parts would come from the Toyota/BYD catalogue by VIN.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months to a decision</a:t>
            </a:r>
            <a:endParaRPr lang="en-US" sz="4400" dirty="0"/>
          </a:p>
        </p:txBody>
      </p:sp>
      <p:sp>
        <p:nvSpPr>
          <p:cNvPr id="3" name="month 1"/>
          <p:cNvSpPr/>
          <p:nvPr/>
        </p:nvSpPr>
        <p:spPr>
          <a:xfrm>
            <a:off x="548640" y="16002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E3238"/>
          </a:solidFill>
          <a:ln w="19050">
            <a:solidFill>
              <a:srgbClr val="4A50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Royal Motors loaner and test-drive cars; record local footage with consent; tune on Tashkent streets, day and night.</a:t>
            </a:r>
            <a:endParaRPr lang="en-US" sz="1600" dirty="0"/>
          </a:p>
        </p:txBody>
      </p:sp>
      <p:sp>
        <p:nvSpPr>
          <p:cNvPr id="6" name="month 2"/>
          <p:cNvSpPr/>
          <p:nvPr/>
        </p:nvSpPr>
        <p:spPr>
          <a:xfrm>
            <a:off x="4297680" y="16002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E3238"/>
          </a:solidFill>
          <a:ln w="19050">
            <a:solidFill>
              <a:srgbClr val="4A50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331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Pack at handover in one Toyota and one BYD centre; one fleet customer with 50 vehicles.</a:t>
            </a:r>
            <a:endParaRPr lang="en-US" sz="1600" dirty="0"/>
          </a:p>
        </p:txBody>
      </p:sp>
      <p:sp>
        <p:nvSpPr>
          <p:cNvPr id="9" name="month 3"/>
          <p:cNvSpPr/>
          <p:nvPr/>
        </p:nvSpPr>
        <p:spPr>
          <a:xfrm>
            <a:off x="8046720" y="16002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E3238"/>
          </a:solidFill>
          <a:ln w="19050">
            <a:solidFill>
              <a:srgbClr val="F2C2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331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attach rate, warnings per 100 km, driver feedback and incidents; decide on roll-out.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one after-sales manager as pilot owner, 20 loaner cars, and access to one fleet customer.</a:t>
            </a:r>
            <a:endParaRPr lang="en-US" sz="2000" dirty="0"/>
          </a:p>
        </p:txBody>
      </p:sp>
      <p:pic>
        <p:nvPicPr>
          <p:cNvPr id="13" name="QR smal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34924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1A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men Road">
  <a:themeElements>
    <a:clrScheme name="Trumen Road">
      <a:dk1>
        <a:srgbClr val="1C1F23"/>
      </a:dk1>
      <a:lt1>
        <a:srgbClr val="FFFFFF"/>
      </a:lt1>
      <a:dk2>
        <a:srgbClr val="23262B"/>
      </a:dk2>
      <a:lt2>
        <a:srgbClr val="F1F2F0"/>
      </a:lt2>
      <a:accent1>
        <a:srgbClr val="F2C230"/>
      </a:accent1>
      <a:accent2>
        <a:srgbClr val="E0312B"/>
      </a:accent2>
      <a:accent3>
        <a:srgbClr val="1D5AA6"/>
      </a:accent3>
      <a:accent4>
        <a:srgbClr val="3E9B5F"/>
      </a:accent4>
      <a:accent5>
        <a:srgbClr val="4A5058"/>
      </a:accent5>
      <a:accent6>
        <a:srgbClr val="9AA1A9"/>
      </a:accent6>
      <a:hlink>
        <a:srgbClr val="1D5AA6"/>
      </a:hlink>
      <a:folHlink>
        <a:srgbClr val="4A5058"/>
      </a:folHlink>
    </a:clrScheme>
    <a:fontScheme name="Trumen Ro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Team Trumen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Trumen Guard: collision warning on any phone</dc:title>
  <dc:subject>PptxGenJS Presentation</dc:subject>
  <dc:creator>Team Trumen</dc:creator>
  <cp:lastModifiedBy>Team Trumen</cp:lastModifiedBy>
  <cp:revision>1</cp:revision>
  <dcterms:created xsi:type="dcterms:W3CDTF">2026-10-11T01:52:14Z</dcterms:created>
  <dcterms:modified xsi:type="dcterms:W3CDTF">2026-10-11T01:52:14Z</dcterms:modified>
</cp:coreProperties>
</file>